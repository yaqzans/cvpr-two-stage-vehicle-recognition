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2" r:id="rId6"/>
    <p:sldId id="263" r:id="rId7"/>
    <p:sldId id="258" r:id="rId8"/>
    <p:sldId id="261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65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92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.xlsx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509760" y="54864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688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 Learning Based Two Stage Framework for Fine Grained Bangladesh Vehicle Recognition in Autonomous Driving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52578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608" y="150749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Related Papers: 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40080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098A8A3-E71A-E422-B87B-44B3A52A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985583"/>
              </p:ext>
            </p:extLst>
          </p:nvPr>
        </p:nvGraphicFramePr>
        <p:xfrm>
          <a:off x="5447808" y="5853569"/>
          <a:ext cx="1203649" cy="1004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showAsIcon="1" r:id="rId4" imgW="979200" imgH="818280" progId="Excel.Sheet.12">
                  <p:embed/>
                </p:oleObj>
              </mc:Choice>
              <mc:Fallback>
                <p:oleObj name="Worksheet" showAsIcon="1" r:id="rId4" imgW="979200" imgH="8182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47808" y="5853569"/>
                        <a:ext cx="1203649" cy="1004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95C8A85-98BC-41A6-C59E-4DA4E1107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608" y="724581"/>
            <a:ext cx="11538186" cy="5051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earch Gap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reviewed papers show is missing</a:t>
            </a:r>
            <a:endParaRPr lang="en-US" sz="1400" dirty="0"/>
          </a:p>
        </p:txBody>
      </p:sp>
      <p:sp>
        <p:nvSpPr>
          <p:cNvPr id="10" name="Card 10"/>
          <p:cNvSpPr/>
          <p:nvPr/>
        </p:nvSpPr>
        <p:spPr>
          <a:xfrm>
            <a:off x="54864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Icon 11"/>
          <p:cNvSpPr/>
          <p:nvPr/>
        </p:nvSpPr>
        <p:spPr>
          <a:xfrm>
            <a:off x="1905520" y="1707058"/>
            <a:ext cx="700000" cy="7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2" name="Header 12"/>
          <p:cNvSpPr/>
          <p:nvPr/>
        </p:nvSpPr>
        <p:spPr>
          <a:xfrm>
            <a:off x="72864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Detection Works</a:t>
            </a:r>
            <a:endParaRPr lang="en-US" sz="1600" dirty="0"/>
          </a:p>
        </p:txBody>
      </p:sp>
      <p:sp>
        <p:nvSpPr>
          <p:cNvPr id="13" name="Sub 13"/>
          <p:cNvSpPr/>
          <p:nvPr/>
        </p:nvSpPr>
        <p:spPr>
          <a:xfrm>
            <a:off x="76864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for detecting, then classifying, US and European vehicle types</a:t>
            </a:r>
            <a:endParaRPr lang="en-US" sz="1150" dirty="0"/>
          </a:p>
        </p:txBody>
      </p:sp>
      <p:sp>
        <p:nvSpPr>
          <p:cNvPr id="14" name="Card 14"/>
          <p:cNvSpPr/>
          <p:nvPr/>
        </p:nvSpPr>
        <p:spPr>
          <a:xfrm>
            <a:off x="437388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Icon 15"/>
          <p:cNvSpPr/>
          <p:nvPr/>
        </p:nvSpPr>
        <p:spPr>
          <a:xfrm>
            <a:off x="5730760" y="1707058"/>
            <a:ext cx="700000" cy="70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16" name="Header 16"/>
          <p:cNvSpPr/>
          <p:nvPr/>
        </p:nvSpPr>
        <p:spPr>
          <a:xfrm>
            <a:off x="455388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Models Fail Locally</a:t>
            </a:r>
            <a:endParaRPr lang="en-US" sz="1600" dirty="0"/>
          </a:p>
        </p:txBody>
      </p:sp>
      <p:sp>
        <p:nvSpPr>
          <p:cNvPr id="17" name="Sub 17"/>
          <p:cNvSpPr/>
          <p:nvPr/>
        </p:nvSpPr>
        <p:spPr>
          <a:xfrm>
            <a:off x="459388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rare, look-alike Bangladeshi vehicles </a:t>
            </a:r>
            <a:b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e.g. Rickshaw vs. Rickshaw-van</a:t>
            </a:r>
            <a:endParaRPr lang="en-US" sz="1150" dirty="0"/>
          </a:p>
        </p:txBody>
      </p:sp>
      <p:sp>
        <p:nvSpPr>
          <p:cNvPr id="18" name="Card 18"/>
          <p:cNvSpPr/>
          <p:nvPr/>
        </p:nvSpPr>
        <p:spPr>
          <a:xfrm>
            <a:off x="819912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7A1E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Icon 19"/>
          <p:cNvSpPr/>
          <p:nvPr/>
        </p:nvSpPr>
        <p:spPr>
          <a:xfrm>
            <a:off x="9556000" y="1707058"/>
            <a:ext cx="700000" cy="700000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20" name="Header 20"/>
          <p:cNvSpPr/>
          <p:nvPr/>
        </p:nvSpPr>
        <p:spPr>
          <a:xfrm>
            <a:off x="837912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 on Bangladesh</a:t>
            </a:r>
            <a:endParaRPr lang="en-US" sz="1600" dirty="0"/>
          </a:p>
        </p:txBody>
      </p:sp>
      <p:sp>
        <p:nvSpPr>
          <p:cNvPr id="21" name="Sub 21"/>
          <p:cNvSpPr/>
          <p:nvPr/>
        </p:nvSpPr>
        <p:spPr>
          <a:xfrm>
            <a:off x="841912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vehicle taxonomy tried this way, and no real dashcam video test</a:t>
            </a:r>
            <a:endParaRPr lang="en-US" sz="1150" dirty="0"/>
          </a:p>
        </p:txBody>
      </p:sp>
      <p:sp>
        <p:nvSpPr>
          <p:cNvPr id="22" name="Arrow1"/>
          <p:cNvSpPr/>
          <p:nvPr/>
        </p:nvSpPr>
        <p:spPr>
          <a:xfrm>
            <a:off x="4018140" y="2907058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ow2"/>
          <p:cNvSpPr/>
          <p:nvPr/>
        </p:nvSpPr>
        <p:spPr>
          <a:xfrm>
            <a:off x="7843380" y="2907058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apStatement"/>
          <p:cNvSpPr/>
          <p:nvPr/>
        </p:nvSpPr>
        <p:spPr>
          <a:xfrm>
            <a:off x="548640" y="4817058"/>
            <a:ext cx="1106424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97A1E"/>
                </a:solidFill>
                <a:latin typeface="Cambria" pitchFamily="34" charset="0"/>
              </a:rPr>
              <a:t>The Gap:  </a:t>
            </a:r>
            <a:r>
              <a:rPr lang="en-US" sz="1600" b="0" i="1" dirty="0">
                <a:solidFill>
                  <a:srgbClr val="21295C"/>
                </a:solidFill>
                <a:latin typeface="Cambria" pitchFamily="34" charset="0"/>
              </a:rPr>
              <a:t>A two-stage pipeline proven elsewhere has never been applied to Bangladesh’s own vehicles or verified on real-world dashcam video.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earch Question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sets out to answer</a:t>
            </a:r>
            <a:endParaRPr lang="en-US" sz="1400" dirty="0"/>
          </a:p>
        </p:txBody>
      </p:sp>
      <p:sp>
        <p:nvSpPr>
          <p:cNvPr id="10" name="QuoteCard"/>
          <p:cNvSpPr/>
          <p:nvPr/>
        </p:nvSpPr>
        <p:spPr>
          <a:xfrm>
            <a:off x="548640" y="1457058"/>
            <a:ext cx="11064240" cy="25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QuoteMark"/>
          <p:cNvSpPr/>
          <p:nvPr/>
        </p:nvSpPr>
        <p:spPr>
          <a:xfrm>
            <a:off x="848640" y="1577058"/>
            <a:ext cx="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D9E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2" name="RQText"/>
          <p:cNvSpPr/>
          <p:nvPr/>
        </p:nvSpPr>
        <p:spPr>
          <a:xfrm>
            <a:off x="1248640" y="1737058"/>
            <a:ext cx="9664240" cy="19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two-step “detect, then classify” approach recognize Bangladesh’s look-alike local vehicles better than a single all in one model and does that hold up on real dashcam video?</a:t>
            </a:r>
            <a:endParaRPr lang="en-US" sz="2000" dirty="0"/>
          </a:p>
        </p:txBody>
      </p:sp>
      <p:sp>
        <p:nvSpPr>
          <p:cNvPr id="13" name="SubLabel"/>
          <p:cNvSpPr/>
          <p:nvPr/>
        </p:nvSpPr>
        <p:spPr>
          <a:xfrm>
            <a:off x="548640" y="4007058"/>
            <a:ext cx="1106424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</a:t>
            </a:r>
            <a:endParaRPr lang="en-US" sz="1300" dirty="0"/>
          </a:p>
        </p:txBody>
      </p:sp>
      <p:sp>
        <p:nvSpPr>
          <p:cNvPr id="14" name="Pill14"/>
          <p:cNvSpPr/>
          <p:nvPr/>
        </p:nvSpPr>
        <p:spPr>
          <a:xfrm>
            <a:off x="548640" y="4427058"/>
            <a:ext cx="3488080" cy="620000"/>
          </a:xfrm>
          <a:prstGeom prst="roundRect">
            <a:avLst>
              <a:gd name="adj" fmla="val 50000"/>
            </a:avLst>
          </a:prstGeom>
          <a:solidFill>
            <a:srgbClr val="F4F8FB"/>
          </a:solidFill>
          <a:ln w="12700">
            <a:solidFill>
              <a:srgbClr val="1C7293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</a:rPr>
              <a:t>Which model backbone works best?</a:t>
            </a:r>
          </a:p>
        </p:txBody>
      </p:sp>
      <p:sp>
        <p:nvSpPr>
          <p:cNvPr id="15" name="Pill15"/>
          <p:cNvSpPr/>
          <p:nvPr/>
        </p:nvSpPr>
        <p:spPr>
          <a:xfrm>
            <a:off x="4336720" y="4427058"/>
            <a:ext cx="3488080" cy="620000"/>
          </a:xfrm>
          <a:prstGeom prst="roundRect">
            <a:avLst>
              <a:gd name="adj" fmla="val 50000"/>
            </a:avLst>
          </a:prstGeom>
          <a:solidFill>
            <a:srgbClr val="F4F8FB"/>
          </a:solidFill>
          <a:ln w="12700">
            <a:solidFill>
              <a:srgbClr val="065A82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</a:rPr>
              <a:t>Two-stage vs. one-stage: which wins?</a:t>
            </a:r>
          </a:p>
        </p:txBody>
      </p:sp>
      <p:sp>
        <p:nvSpPr>
          <p:cNvPr id="16" name="Pill16"/>
          <p:cNvSpPr/>
          <p:nvPr/>
        </p:nvSpPr>
        <p:spPr>
          <a:xfrm>
            <a:off x="8124800" y="4427058"/>
            <a:ext cx="3488080" cy="620000"/>
          </a:xfrm>
          <a:prstGeom prst="roundRect">
            <a:avLst>
              <a:gd name="adj" fmla="val 50000"/>
            </a:avLst>
          </a:prstGeom>
          <a:solidFill>
            <a:srgbClr val="F4F8FB"/>
          </a:solidFill>
          <a:ln w="12700">
            <a:solidFill>
              <a:srgbClr val="C97A1E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</a:rPr>
              <a:t>Does it hold up on real video?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Dataset (RSUD20K)</a:t>
            </a:r>
            <a:endParaRPr lang="en-US" sz="3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FE8C7D2-80B7-40CD-B608-C21D28124DAD}"/>
              </a:ext>
            </a:extLst>
          </p:cNvPr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cs typeface="Calibri" pitchFamily="34" charset="-120"/>
              </a:rPr>
              <a:t>The original dataset made for YOLO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6B468-1DA1-4884-8C84-8E477E8A9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3" y="1571399"/>
            <a:ext cx="4429387" cy="2432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73F10-B476-4D1D-AC49-142CF474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14" y="4475527"/>
            <a:ext cx="4429387" cy="2315361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4F70201F-5115-49BF-A35F-F534AB01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5948" y="1649716"/>
            <a:ext cx="727605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20,334 road scene images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captured on Bangladesh roads.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Dataset split: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Train (18,681), Validation (1,004), Test (649).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13 annotated object classes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with approximately 130,000   YOLO bounding boxes.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Directory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Images, YOLO label,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Designed for object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autonomous driving applications. </a:t>
            </a:r>
          </a:p>
        </p:txBody>
      </p:sp>
      <p:sp>
        <p:nvSpPr>
          <p:cNvPr id="21" name="Arrow1">
            <a:extLst>
              <a:ext uri="{FF2B5EF4-FFF2-40B4-BE49-F238E27FC236}">
                <a16:creationId xmlns:a16="http://schemas.microsoft.com/office/drawing/2014/main" id="{4AFB8A2C-BBD8-4C95-8D94-208D1FB33660}"/>
              </a:ext>
            </a:extLst>
          </p:cNvPr>
          <p:cNvSpPr/>
          <p:nvPr/>
        </p:nvSpPr>
        <p:spPr>
          <a:xfrm rot="5400000">
            <a:off x="2358306" y="4139830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2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Classification Dataset</a:t>
            </a:r>
            <a:endParaRPr lang="en-US" sz="30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FE8C7D2-80B7-40CD-B608-C21D28124DAD}"/>
              </a:ext>
            </a:extLst>
          </p:cNvPr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cs typeface="Calibri" pitchFamily="34" charset="-120"/>
              </a:rPr>
              <a:t>New Dataset made for CNN training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73F10-B476-4D1D-AC49-142CF4746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4" y="1573035"/>
            <a:ext cx="4429387" cy="2196756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4F70201F-5115-49BF-A35F-F534AB018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5948" y="1957492"/>
            <a:ext cx="75941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Created by cropping objects using RSUD20K YOLO annotations.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130,000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cropped images across 13 road object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Dataset split: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Train (118,810), Validation (7,385), Test (3,805).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Original Train/Validation/Test split preserved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Images organized into class-wise folders for CNN training.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Arrow1">
            <a:extLst>
              <a:ext uri="{FF2B5EF4-FFF2-40B4-BE49-F238E27FC236}">
                <a16:creationId xmlns:a16="http://schemas.microsoft.com/office/drawing/2014/main" id="{4AFB8A2C-BBD8-4C95-8D94-208D1FB33660}"/>
              </a:ext>
            </a:extLst>
          </p:cNvPr>
          <p:cNvSpPr/>
          <p:nvPr/>
        </p:nvSpPr>
        <p:spPr>
          <a:xfrm rot="5400000">
            <a:off x="2158307" y="3904206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A0ED7-DCA4-4EE8-B3BA-CC66F41C1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14" y="4291266"/>
            <a:ext cx="924153" cy="1128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19F122-E385-4D3B-AD43-48B4A26A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213" y="4291267"/>
            <a:ext cx="982604" cy="1128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F08D08-E432-4FF1-83A5-B3C964D3F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373" y="4291267"/>
            <a:ext cx="1065403" cy="1128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2E576A-1187-437F-93D9-E437F2F97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13" y="5521621"/>
            <a:ext cx="924153" cy="11281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04041D-7999-42AB-8ADE-DE634C86EF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1594" y="5521620"/>
            <a:ext cx="962223" cy="1128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23E62C-59D1-41B0-BD8F-FD93E2029D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2373" y="5497842"/>
            <a:ext cx="1065403" cy="11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8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Framework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 illustrating the proposed recognition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57058"/>
            <a:ext cx="11064240" cy="4989462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49F04-8831-4C7C-958B-D0A536E3F051}"/>
              </a:ext>
            </a:extLst>
          </p:cNvPr>
          <p:cNvSpPr txBox="1"/>
          <p:nvPr/>
        </p:nvSpPr>
        <p:spPr>
          <a:xfrm>
            <a:off x="5016617" y="6498580"/>
            <a:ext cx="2650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 1: Training pipeline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2CC4BA-22F8-48EB-AF9A-6EB3FD7E8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457058"/>
            <a:ext cx="11064240" cy="49894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Framework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 illustrating the proposed recognition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57058"/>
            <a:ext cx="11064240" cy="4989462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8BD5C-DC5F-487D-840A-E5CCE5DF0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457058"/>
            <a:ext cx="11064241" cy="4989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BC5727-177B-49BC-8B98-907BB13E2AE6}"/>
              </a:ext>
            </a:extLst>
          </p:cNvPr>
          <p:cNvSpPr txBox="1"/>
          <p:nvPr/>
        </p:nvSpPr>
        <p:spPr>
          <a:xfrm>
            <a:off x="5016617" y="6498580"/>
            <a:ext cx="2650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 2: Implementation pipeline</a:t>
            </a:r>
          </a:p>
        </p:txBody>
      </p:sp>
    </p:spTree>
    <p:extLst>
      <p:ext uri="{BB962C8B-B14F-4D97-AF65-F5344CB8AC3E}">
        <p14:creationId xmlns:p14="http://schemas.microsoft.com/office/powerpoint/2010/main" val="181732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proposed contribution</a:t>
            </a:r>
            <a:endParaRPr lang="en-US" sz="1400" dirty="0"/>
          </a:p>
        </p:txBody>
      </p:sp>
      <p:sp>
        <p:nvSpPr>
          <p:cNvPr id="10" name="Card 10"/>
          <p:cNvSpPr/>
          <p:nvPr/>
        </p:nvSpPr>
        <p:spPr>
          <a:xfrm>
            <a:off x="54864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Icon 11"/>
          <p:cNvSpPr/>
          <p:nvPr/>
        </p:nvSpPr>
        <p:spPr>
          <a:xfrm>
            <a:off x="1905520" y="1707058"/>
            <a:ext cx="700000" cy="700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2" name="Header 12"/>
          <p:cNvSpPr/>
          <p:nvPr/>
        </p:nvSpPr>
        <p:spPr>
          <a:xfrm>
            <a:off x="72864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Dataset</a:t>
            </a:r>
            <a:endParaRPr lang="en-US" sz="1600" dirty="0"/>
          </a:p>
        </p:txBody>
      </p:sp>
      <p:sp>
        <p:nvSpPr>
          <p:cNvPr id="13" name="Sub 13"/>
          <p:cNvSpPr/>
          <p:nvPr/>
        </p:nvSpPr>
        <p:spPr>
          <a:xfrm>
            <a:off x="76864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RSUD20K's ~130,000 annotated boxes cropped into a dedicated Bangladesh vehicle classification dataset across 13 classes</a:t>
            </a:r>
            <a:endParaRPr lang="en-US" sz="1150" dirty="0"/>
          </a:p>
        </p:txBody>
      </p:sp>
      <p:sp>
        <p:nvSpPr>
          <p:cNvPr id="14" name="Card 14"/>
          <p:cNvSpPr/>
          <p:nvPr/>
        </p:nvSpPr>
        <p:spPr>
          <a:xfrm>
            <a:off x="437388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Icon 15"/>
          <p:cNvSpPr/>
          <p:nvPr/>
        </p:nvSpPr>
        <p:spPr>
          <a:xfrm>
            <a:off x="5730760" y="1707058"/>
            <a:ext cx="700000" cy="700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6" name="Header 16"/>
          <p:cNvSpPr/>
          <p:nvPr/>
        </p:nvSpPr>
        <p:spPr>
          <a:xfrm>
            <a:off x="455388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Two-Stage Test</a:t>
            </a:r>
            <a:endParaRPr lang="en-US" sz="1600" dirty="0"/>
          </a:p>
        </p:txBody>
      </p:sp>
      <p:sp>
        <p:nvSpPr>
          <p:cNvPr id="17" name="Sub 17"/>
          <p:cNvSpPr/>
          <p:nvPr/>
        </p:nvSpPr>
        <p:spPr>
          <a:xfrm>
            <a:off x="459388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 detection benchmarked and compared against single-stage detection</a:t>
            </a:r>
            <a:b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50" dirty="0"/>
          </a:p>
        </p:txBody>
      </p:sp>
      <p:sp>
        <p:nvSpPr>
          <p:cNvPr id="18" name="Card 18"/>
          <p:cNvSpPr/>
          <p:nvPr/>
        </p:nvSpPr>
        <p:spPr>
          <a:xfrm>
            <a:off x="8199120" y="1457058"/>
            <a:ext cx="341376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7A1E"/>
            </a:solidFill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Icon 19"/>
          <p:cNvSpPr/>
          <p:nvPr/>
        </p:nvSpPr>
        <p:spPr>
          <a:xfrm>
            <a:off x="9556000" y="1707058"/>
            <a:ext cx="700000" cy="700000"/>
          </a:xfrm>
          <a:prstGeom prst="ellipse">
            <a:avLst/>
          </a:prstGeom>
          <a:solidFill>
            <a:srgbClr val="C97A1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★</a:t>
            </a:r>
          </a:p>
        </p:txBody>
      </p:sp>
      <p:sp>
        <p:nvSpPr>
          <p:cNvPr id="20" name="Header 20"/>
          <p:cNvSpPr/>
          <p:nvPr/>
        </p:nvSpPr>
        <p:spPr>
          <a:xfrm>
            <a:off x="8379120" y="2537058"/>
            <a:ext cx="305376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Documented Gap</a:t>
            </a:r>
            <a:endParaRPr lang="en-US" sz="1600" dirty="0"/>
          </a:p>
        </p:txBody>
      </p:sp>
      <p:sp>
        <p:nvSpPr>
          <p:cNvPr id="21" name="Sub 21"/>
          <p:cNvSpPr/>
          <p:nvPr/>
        </p:nvSpPr>
        <p:spPr>
          <a:xfrm>
            <a:off x="8419120" y="3077058"/>
            <a:ext cx="2973760" cy="1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b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extends RSUD20K's own stated future work on fine-grained sub-type recognition</a:t>
            </a:r>
            <a:endParaRPr lang="en-US" sz="1150" dirty="0"/>
          </a:p>
        </p:txBody>
      </p:sp>
      <p:sp>
        <p:nvSpPr>
          <p:cNvPr id="22" name="Arrow1"/>
          <p:cNvSpPr/>
          <p:nvPr/>
        </p:nvSpPr>
        <p:spPr>
          <a:xfrm>
            <a:off x="4018140" y="2907058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ow2"/>
          <p:cNvSpPr/>
          <p:nvPr/>
        </p:nvSpPr>
        <p:spPr>
          <a:xfrm>
            <a:off x="7843380" y="2907058"/>
            <a:ext cx="300000" cy="20000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97A3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apStatement"/>
          <p:cNvSpPr/>
          <p:nvPr/>
        </p:nvSpPr>
        <p:spPr>
          <a:xfrm>
            <a:off x="548640" y="4817058"/>
            <a:ext cx="1106424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97A1E"/>
                </a:solidFill>
                <a:latin typeface="Cambria" pitchFamily="34" charset="0"/>
              </a:rPr>
              <a:t>In Summary:  </a:t>
            </a:r>
            <a:r>
              <a:rPr lang="en-US" sz="1600" b="0" i="1" dirty="0">
                <a:solidFill>
                  <a:srgbClr val="21295C"/>
                </a:solidFill>
                <a:latin typeface="Cambria" pitchFamily="34" charset="0"/>
              </a:rPr>
              <a:t>This work applies a two stage detect then classify pipeline, proven elsewhere, to Bangladesh's own vehicle taxonomy for the first time directly testing it against single stage detection on the same data.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C15EB-F2FB-F330-F678-2F9FA6CCE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436</Words>
  <Application>Microsoft Office PowerPoint</Application>
  <PresentationFormat>Widescreen</PresentationFormat>
  <Paragraphs>73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Transfer Learning-Based Two-Stage Framework for Fine-Grained Bangladesh Vehicle Recognition in Autonomous Driving</dc:title>
  <dc:subject>PptxGenJS Presentation</dc:subject>
  <dc:creator>Claude</dc:creator>
  <cp:lastModifiedBy>FAIROOZ ALAM</cp:lastModifiedBy>
  <cp:revision>23</cp:revision>
  <dcterms:created xsi:type="dcterms:W3CDTF">2026-07-06T18:38:27Z</dcterms:created>
  <dcterms:modified xsi:type="dcterms:W3CDTF">2026-07-11T17:06:03Z</dcterms:modified>
</cp:coreProperties>
</file>